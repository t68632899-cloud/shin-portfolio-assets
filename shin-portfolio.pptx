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98" r:id="rId2"/>
    <p:sldId id="299" r:id="rId3"/>
    <p:sldId id="319" r:id="rId4"/>
    <p:sldId id="301" r:id="rId5"/>
    <p:sldId id="320" r:id="rId6"/>
    <p:sldId id="303" r:id="rId7"/>
    <p:sldId id="321" r:id="rId8"/>
    <p:sldId id="318" r:id="rId9"/>
    <p:sldId id="306" r:id="rId10"/>
    <p:sldId id="322" r:id="rId11"/>
    <p:sldId id="297" r:id="rId12"/>
    <p:sldId id="308" r:id="rId13"/>
    <p:sldId id="314" r:id="rId14"/>
    <p:sldId id="315" r:id="rId15"/>
    <p:sldId id="311" r:id="rId16"/>
    <p:sldId id="316" r:id="rId17"/>
    <p:sldId id="31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8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5"/>
    <p:restoredTop sz="94610"/>
  </p:normalViewPr>
  <p:slideViewPr>
    <p:cSldViewPr snapToGrid="0" snapToObjects="1">
      <p:cViewPr>
        <p:scale>
          <a:sx n="93" d="100"/>
          <a:sy n="93" d="100"/>
        </p:scale>
        <p:origin x="-200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293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194560" cy="320040"/>
          </a:xfrm>
          <a:prstGeom prst="roundRect">
            <a:avLst>
              <a:gd name="adj" fmla="val 48571"/>
            </a:avLst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OUTBOUND OPERATOR · BUILDER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</a:t>
            </a:r>
            <a:r>
              <a:rPr lang="en-US" sz="100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영업을 시스템으로 만드는 오퍼레이터.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ko-KR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F&amp;B 창업을 4년간 운영하며 cold outreach의 실전 감각을 익혔고, 글로벌 미용기기 B2B 영업 팀장으로 일하며 현장의 pain point를 직접 경험했습니다. 그 경험을 바탕으로 B2B GTM 자동화 시스템을 Claude Code로 2주 만에 혼자 구축했습니다. 18개의 AI 에이전트가 한 명의 오퍼레이터 안에서 SDR 팀처럼 움직입니다.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512064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566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F&amp;B 창업 ·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&amp; D2C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512064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24028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40280" y="566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솔로 빌드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79476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94760" y="566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12080" y="512064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34924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2,640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566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발송 capacity</a:t>
            </a:r>
          </a:p>
        </p:txBody>
      </p:sp>
      <p:pic>
        <p:nvPicPr>
          <p:cNvPr id="19" name="Image 0" descr="/Users/shin/Desktop/Shin_Portfolio_Images/shin-pho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8080" y="548640"/>
            <a:ext cx="4114800" cy="5577840"/>
          </a:xfrm>
          <a:prstGeom prst="ellipse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0337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아웃바운드, 왜 25년째 같은 자리인가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SDR은 월 80-100명에게 개인화 메시지를 보냅니다. 미팅까지 이어지는 건 2-3건.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계속 바뀌었는데 생산성은 제자리인 이유는 세 가지 구조적 병목 때문입니다.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-300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82880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 발굴에 쏟는 시간이 너무 많다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135086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SDR 한 명이 수동으로 찾을 수 있는 리드는 주 20-30명이 상한.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ICP 필터까지 돌리면 실제 가용은 주 10명 이하.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326880" y="292608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418320" y="29718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41832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자체가 좁아짐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-300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1828800" y="3977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개인화와 볼륨 중 하나는 포기해야 한다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42291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의존 시 reply rate 1-2% 고정. 손 개인화는 리드당 40분. 둘 다 하려면 사람을 2-3배 더 뽑아야 함.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326880" y="406908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418320" y="41148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418320" y="4343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인건비만 올라가고 ROI 정체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1106424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-300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1828800" y="5120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주가 지난 주와 같다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5532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스프레드시트 주간 리뷰 2-3시간. cohort·angle 비교 못하는 상태로 다음 주 시작. 학습이 누적되지 않음.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26880" y="521208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418320" y="52578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418320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곡선 없이 반복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57979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SHIN'S ANSWER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판단에, 시스템은 실행에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GTM 자동화 시스템을 만들었습니다. 18개 AI 에이전트가 리드 발굴부터 리포팅까지 담당하고,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오퍼레이터는 전략적 판단과 품질 검수에만 시간을 씁니다.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91440" cy="1097280"/>
          </a:xfrm>
          <a:prstGeom prst="rect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10972800" cy="1097280"/>
          </a:xfrm>
          <a:prstGeom prst="roundRect">
            <a:avLst>
              <a:gd name="adj" fmla="val 4167"/>
            </a:avLst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PRINCIPLE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리서치와 메일 초안은 기계가 씁니다. 사람은 </a:t>
            </a:r>
            <a:r>
              <a:rPr lang="en-US" sz="18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먹히는 메일인가</a:t>
            </a: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판단합니다.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-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5×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 발굴 속도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4864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200-400통 → 2,640통. 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 err="1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유지하면서 볼륨 13배.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402336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17720" y="41148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-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4×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61772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품질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54864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ko-KR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자료 기반 리서치 DB · pain point 맞춤 메일.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reply rate 1-2% → 7%.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402336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412480" y="41148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-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4×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41248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 Economics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54864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D8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CPM $30 vs 업계 $500-2,000. 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D8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tools-only 기준 16-66배 효율.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82425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FUNNEL · MONTHLY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50,000명에서 13건의 미팅까지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iCELmedi aesthetic device segment 기준 실측 전환율. 각 단계 업계 평균의 2-5배.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65276" y="2560320"/>
            <a:ext cx="10058400" cy="365760"/>
          </a:xfrm>
          <a:prstGeom prst="roundRect">
            <a:avLst>
              <a:gd name="adj" fmla="val 10000"/>
            </a:avLst>
          </a:prstGeom>
          <a:solidFill>
            <a:srgbClr val="EEF5F1"/>
          </a:solidFill>
          <a:ln w="635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48156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 · 전체 시장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37676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50,000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72116" y="2633472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72116" y="26334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22476" y="3017520"/>
            <a:ext cx="9144000" cy="365760"/>
          </a:xfrm>
          <a:prstGeom prst="roundRect">
            <a:avLst>
              <a:gd name="adj" fmla="val 10000"/>
            </a:avLst>
          </a:prstGeom>
          <a:solidFill>
            <a:srgbClr val="EEF5F1"/>
          </a:solidFill>
          <a:ln w="635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705356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ICP 필터 통과 (120점)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80476" y="3017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2,400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14916" y="3090672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614916" y="30906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4.8%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71116" y="3474720"/>
            <a:ext cx="8046720" cy="365760"/>
          </a:xfrm>
          <a:prstGeom prst="roundRect">
            <a:avLst>
              <a:gd name="adj" fmla="val 10000"/>
            </a:avLst>
          </a:prstGeom>
          <a:solidFill>
            <a:srgbClr val="EEF5F1"/>
          </a:solidFill>
          <a:ln w="635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253996" y="3474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unique 접촉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31836" y="3474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66276" y="3547872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066276" y="35478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cohort 분할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19756" y="3931920"/>
            <a:ext cx="6949440" cy="365760"/>
          </a:xfrm>
          <a:prstGeom prst="roundRect">
            <a:avLst>
              <a:gd name="adj" fmla="val 10000"/>
            </a:avLst>
          </a:prstGeom>
          <a:solidFill>
            <a:srgbClr val="EEF5F1"/>
          </a:solidFill>
          <a:ln w="635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802636" y="3931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(3-touch)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83196" y="3931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2,640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17636" y="4005072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517636" y="40050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880×3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68396" y="4389120"/>
            <a:ext cx="5852160" cy="365760"/>
          </a:xfrm>
          <a:prstGeom prst="roundRect">
            <a:avLst>
              <a:gd name="adj" fmla="val 10000"/>
            </a:avLst>
          </a:prstGeom>
          <a:solidFill>
            <a:srgbClr val="EEF5F1"/>
          </a:solidFill>
          <a:ln w="635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351276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34556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68996" y="4462272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968996" y="44622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17036" y="4846320"/>
            <a:ext cx="4754880" cy="365760"/>
          </a:xfrm>
          <a:prstGeom prst="roundRect">
            <a:avLst>
              <a:gd name="adj" fmla="val 10000"/>
            </a:avLst>
          </a:prstGeom>
          <a:solidFill>
            <a:srgbClr val="EEF5F1"/>
          </a:solidFill>
          <a:ln w="635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899916" y="4846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85916" y="4846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20356" y="4919472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420356" y="49194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7.3%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65676" y="5303520"/>
            <a:ext cx="3657600" cy="365760"/>
          </a:xfrm>
          <a:prstGeom prst="roundRect">
            <a:avLst>
              <a:gd name="adj" fmla="val 10000"/>
            </a:avLst>
          </a:prstGeom>
          <a:solidFill>
            <a:srgbClr val="EEF5F1"/>
          </a:solidFill>
          <a:ln w="635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448556" y="5303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37276" y="5303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71716" y="5376672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871716" y="53766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14316" y="5760720"/>
            <a:ext cx="2560320" cy="365760"/>
          </a:xfrm>
          <a:prstGeom prst="roundRect">
            <a:avLst>
              <a:gd name="adj" fmla="val 10000"/>
            </a:avLst>
          </a:prstGeom>
          <a:solidFill>
            <a:srgbClr val="5F8575"/>
          </a:solidFill>
          <a:ln w="635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 flipH="1">
            <a:off x="4997195" y="5760720"/>
            <a:ext cx="8626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예약된 미팅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5760720" y="5760720"/>
            <a:ext cx="57139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5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323076" y="5833872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D5E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323076" y="58338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qualified</a:t>
            </a: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86405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owtieLeftWing"/>
          <p:cNvSpPr/>
          <p:nvPr/>
        </p:nvSpPr>
        <p:spPr>
          <a:xfrm>
            <a:off x="1016000" y="2786380"/>
            <a:ext cx="4064000" cy="2667000"/>
          </a:xfrm>
          <a:custGeom>
            <a:avLst/>
            <a:gdLst/>
            <a:ahLst/>
            <a:cxnLst/>
            <a:rect l="0" t="0" r="0" b="0"/>
            <a:pathLst>
              <a:path w="4064000" h="2667000">
                <a:moveTo>
                  <a:pt x="0" y="0"/>
                </a:moveTo>
                <a:lnTo>
                  <a:pt x="0" y="2667000"/>
                </a:lnTo>
                <a:lnTo>
                  <a:pt x="4064000" y="2286000"/>
                </a:lnTo>
                <a:lnTo>
                  <a:pt x="4064000" y="381000"/>
                </a:lnTo>
                <a:close/>
              </a:path>
            </a:pathLst>
          </a:custGeom>
          <a:solidFill>
            <a:srgbClr val="E8EFEA"/>
          </a:solidFill>
          <a:ln w="15875">
            <a:solidFill>
              <a:srgbClr val="8FA89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wtieRightWing"/>
          <p:cNvSpPr/>
          <p:nvPr/>
        </p:nvSpPr>
        <p:spPr>
          <a:xfrm>
            <a:off x="7112000" y="2786380"/>
            <a:ext cx="4064000" cy="2667000"/>
          </a:xfrm>
          <a:custGeom>
            <a:avLst/>
            <a:gdLst/>
            <a:ahLst/>
            <a:cxnLst/>
            <a:rect l="0" t="0" r="0" b="0"/>
            <a:pathLst>
              <a:path w="4064000" h="2667000">
                <a:moveTo>
                  <a:pt x="0" y="381000"/>
                </a:moveTo>
                <a:lnTo>
                  <a:pt x="0" y="2286000"/>
                </a:lnTo>
                <a:lnTo>
                  <a:pt x="4064000" y="2667000"/>
                </a:lnTo>
                <a:lnTo>
                  <a:pt x="4064000" y="0"/>
                </a:lnTo>
                <a:close/>
              </a:path>
            </a:pathLst>
          </a:custGeom>
          <a:solidFill>
            <a:srgbClr val="E8EFEA"/>
          </a:solidFill>
          <a:ln w="15875">
            <a:solidFill>
              <a:srgbClr val="8FA89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wtieKnot"/>
          <p:cNvSpPr/>
          <p:nvPr/>
        </p:nvSpPr>
        <p:spPr>
          <a:xfrm>
            <a:off x="5080000" y="3167380"/>
            <a:ext cx="2032000" cy="1905000"/>
          </a:xfrm>
          <a:prstGeom prst="rect">
            <a:avLst/>
          </a:prstGeom>
          <a:solidFill>
            <a:srgbClr val="6B87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보타이 구조 · 첫 발송이 평생 가치로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10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매출의 60-70%는 첫 계약이 아니라 반복 구매와 추천에서 나옵니다. 이 시스템은 Winning by Design의 보타이 구조를 채택해 리드 발굴(Acquisition) · 체결(Commit) · 확장(Expansion) 세 단계에 18개 에이전트를 배치했습니다.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793740"/>
            <a:ext cx="91440" cy="640080"/>
          </a:xfrm>
          <a:prstGeom prst="rect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7240" y="579374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THIS MATTERS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60223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SDR은 첫 미팅 세팅에서 끝납니다. 보타이 구조를 이해하는 SDR은 첫 발송 데이터가 12개월 후 재접촉의 트리거 조건이 된다는 것을 압니다.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06500" y="3611880"/>
            <a:ext cx="2921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06500" y="3865880"/>
            <a:ext cx="292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Acquisition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06500" y="4335780"/>
            <a:ext cx="2921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 발굴 · 6 agents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06500" y="5478780"/>
            <a:ext cx="2921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WIDE · 많은 타겟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70500" y="3611880"/>
            <a:ext cx="16510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D8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70500" y="3865880"/>
            <a:ext cx="165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70500" y="4335780"/>
            <a:ext cx="16510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체결 · 6 agents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70500" y="5478780"/>
            <a:ext cx="1651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NARROWING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64500" y="3611880"/>
            <a:ext cx="2921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64500" y="3865880"/>
            <a:ext cx="292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Expansion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064500" y="4335780"/>
            <a:ext cx="2921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확장·재연락 · 6 agents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64500" y="5478780"/>
            <a:ext cx="2921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900" kern="0" spc="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WIDE · 재접촉 네트워크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41248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ICP SCORING · 120 POINTS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리드가 좋은 리드인가 · 6축으로 채점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120점 만점 점수로 정량화. 6개 축에 각기 다른 가중치, 각 축마다 자동 데이터 소스 매핑.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지역 Fit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위치 · 주요 판매 지역 매칭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3246120" cy="73152"/>
          </a:xfrm>
          <a:prstGeom prst="rect">
            <a:avLst/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3246120" cy="73152"/>
          </a:xfrm>
          <a:prstGeom prst="rect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43400" y="26517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2628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규모 Fit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32918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수 + 매출 규모 ICP 범위 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3931920"/>
            <a:ext cx="3246120" cy="73152"/>
          </a:xfrm>
          <a:prstGeom prst="rect">
            <a:avLst/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26280" y="3931920"/>
            <a:ext cx="2596896" cy="73152"/>
          </a:xfrm>
          <a:prstGeom prst="rect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138160" y="26517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2104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카테고리 Gap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32918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제품이 채울 수 있는 포트폴리오 공백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21040" y="3931920"/>
            <a:ext cx="3246120" cy="73152"/>
          </a:xfrm>
          <a:prstGeom prst="rect">
            <a:avLst/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321040" y="3931920"/>
            <a:ext cx="3246120" cy="73152"/>
          </a:xfrm>
          <a:prstGeom prst="rect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구매 의도 시그널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08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50292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6개월 입점·인증·채용 시그널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5669280"/>
            <a:ext cx="3246120" cy="73152"/>
          </a:xfrm>
          <a:prstGeom prst="rect">
            <a:avLst/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31520" y="5669280"/>
            <a:ext cx="2596896" cy="73152"/>
          </a:xfrm>
          <a:prstGeom prst="rect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343400" y="43891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52628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의사결정자 접근성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26280" y="50292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결재권자 LinkedIn 활동 + 공개 이메일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26280" y="5669280"/>
            <a:ext cx="3246120" cy="73152"/>
          </a:xfrm>
          <a:prstGeom prst="rect">
            <a:avLst/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526280" y="5669280"/>
            <a:ext cx="1947672" cy="73152"/>
          </a:xfrm>
          <a:prstGeom prst="rect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138160" y="43891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32104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경쟁사 Pressure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69848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15점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21040" y="50292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입점·이탈 시 urgency 상승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21040" y="5669280"/>
            <a:ext cx="3246120" cy="73152"/>
          </a:xfrm>
          <a:prstGeom prst="rect">
            <a:avLst/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8321040" y="5669280"/>
            <a:ext cx="1947672" cy="73152"/>
          </a:xfrm>
          <a:prstGeom prst="rect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601200" y="60727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합산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515600" y="60270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14059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ENGAGEMENT-BASED SCORING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답장 이후 · 행동에 따라 점수가 다시 움직인다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ICP 120점은 발송 전 정적 점수. 실제 딜은 발송 이후 행동에서 판가름. 행동 점수(EBS)를 별도 레이어로 운영.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1 · STATIC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ICP Score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-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120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지역·규모·카테고리 gap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구매 시그널·결재권자·경쟁 pressure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Apollo + Claude 기반 자동 채점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3931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526280" y="26517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EF5F1"/>
          </a:solidFill>
          <a:ln w="254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0060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2 · DYNAMIC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Engagement Score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00600" y="3794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-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-100 – +200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0060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open·click·reply 자동 트리거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4983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샘플·가격·미팅 가중치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Instantly webhook 실시간 업데이트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92440" y="3931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503920" y="26517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5F8575"/>
          </a:solidFill>
          <a:ln w="254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77824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8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COMPOSITE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78240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Tier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778240" y="3794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-100" dirty="0">
                <a:solidFill>
                  <a:srgbClr val="D8E5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 · A · B · C · Dormant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77824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180+ → Hot Lead 즉시 개입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78240" y="4983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150-179 → Tier A 자동 승급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HubSpot stage 자동 동기화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87948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ACQUISITION · 상세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 1건을 9분으로 · 7단계 파이프라인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파이프라인 6분 + Shin 검수 3분. 리서치와 초안은 기계가 담당하고, Shin은 현장에서 먹힐 메일인지만 판단합니다.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411480" cy="411480"/>
          </a:xfrm>
          <a:prstGeom prst="ellipse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 발굴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840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Apollo에서 ICP 기준 검색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12848" y="274320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350008" y="2880360"/>
            <a:ext cx="411480" cy="411480"/>
          </a:xfrm>
          <a:prstGeom prst="ellipse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350008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50008" y="3429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ICP 스코어링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50008" y="3840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6축 120점 · A/B/C 등급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77056" y="274320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014216" y="2880360"/>
            <a:ext cx="411480" cy="411480"/>
          </a:xfrm>
          <a:prstGeom prst="ellipse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014216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14216" y="3429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시그널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14216" y="3840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크롤 + LLM 분석 4축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41264" y="274320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678424" y="2880360"/>
            <a:ext cx="411480" cy="411480"/>
          </a:xfrm>
          <a:prstGeom prst="ellipse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78424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78424" y="3429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조사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78424" y="3840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홈·LinkedIn·뉴스 구조화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05472" y="274320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42632" y="2880360"/>
            <a:ext cx="411480" cy="411480"/>
          </a:xfrm>
          <a:prstGeom prst="ellipse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42632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42632" y="3429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추출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42632" y="3840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배경에서 pain 1문장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869680" y="274320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9006840" y="2880360"/>
            <a:ext cx="411480" cy="411480"/>
          </a:xfrm>
          <a:prstGeom prst="ellipse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00684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06840" y="3429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매칭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06840" y="3840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pain-fit SKU 자동 선정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533888" y="274320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671048" y="28803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0671048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>
              <a:solidFill>
                <a:srgbClr val="5F8575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671048" y="3429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메일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671048" y="3840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 100단어 · 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 err="1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3가지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53035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6분</a:t>
            </a: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Apollo + Claude + Gemini    </a:t>
            </a: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검수 3분</a:t>
            </a: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제목 선정 + 사실 확인    </a:t>
            </a: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9분 / 리드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4473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 CAMPAIGN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3-Touch 시퀀스 · 14일 동안 같은 리드에 3번 접근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Positive reply의 80%는 첫 메일이 아니라 2-3번째 터치에서. 각 터치의 역할을 분명히 분리.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19615"/>
            <a:ext cx="3611880" cy="2834640"/>
          </a:xfrm>
          <a:prstGeom prst="roundRect">
            <a:avLst>
              <a:gd name="adj" fmla="val 2703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2556775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255677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 1 · DAY 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3013975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· 공백 지목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562615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77240" y="3772927"/>
            <a:ext cx="324612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3772927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A사 PDRN 카테고리 · 한국 제조사 직거래 제안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4431295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이렇게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77240" y="4625919"/>
            <a:ext cx="3246120" cy="569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ko-KR" alt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환기와 호기심 자극. 부담 없는 CTA.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43400" y="2419615"/>
            <a:ext cx="3611880" cy="2834640"/>
          </a:xfrm>
          <a:prstGeom prst="roundRect">
            <a:avLst>
              <a:gd name="adj" fmla="val 2703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0" y="2556775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0" y="255677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 2 · DAY 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3013975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Study · 숫자로 증명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562615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0" y="3772927"/>
            <a:ext cx="324612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63440" y="3772927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Re: [이전] — 동일 segment 35% 마진 개선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4431295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이렇게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0" y="4625919"/>
            <a:ext cx="3246120" cy="569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ko-KR" alt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놓친 독자를 다시 engage. 숫자로 credibility 확보.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38160" y="2419615"/>
            <a:ext cx="3611880" cy="2834640"/>
          </a:xfrm>
          <a:prstGeom prst="roundRect">
            <a:avLst>
              <a:gd name="adj" fmla="val 2703"/>
            </a:avLst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366760" y="2556775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366760" y="255677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 3 · DAY 10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66760" y="3013975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Break-up · Yes/No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3562615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7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366760" y="3772927"/>
            <a:ext cx="324612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458200" y="3772927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잠시 시간 되실까요?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66760" y="4431295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이렇게</a:t>
            </a:r>
            <a:endParaRPr lang="en-US" sz="7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66760" y="4625919"/>
            <a:ext cx="3246120" cy="569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ko-KR" alt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답장 없으면 종료, urgency 극대화. 응답률 가장 높음.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6100" y="5327531"/>
            <a:ext cx="3606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85800" y="5327531"/>
            <a:ext cx="332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 1  42%  open · reply 3%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43400" y="5327531"/>
            <a:ext cx="3606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483100" y="5327531"/>
            <a:ext cx="332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 2  31%  open · reply 7%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140700" y="5327531"/>
            <a:ext cx="3606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280400" y="5327531"/>
            <a:ext cx="332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 3  28%  open · reply 12%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6100" y="5873631"/>
            <a:ext cx="11201400" cy="457200"/>
          </a:xfrm>
          <a:prstGeom prst="roundRect">
            <a:avLst>
              <a:gd name="adj" fmla="val 10000"/>
            </a:avLst>
          </a:prstGeom>
          <a:solidFill>
            <a:srgbClr val="5F8575"/>
          </a:solidFill>
          <a:ln w="635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85800" y="5873631"/>
            <a:ext cx="1092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응답률  22%  single-touch의 3배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355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19333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NURTURING CYCLE · 6-12 MONTHS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Nurture DB · 시간이 쌓일수록 유효해지는 자산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C 1,600명은 제외가 아닌 보관. 자동 시그널 모니터링으로 상황이 바뀌면 Tier A/B로 자동 승급합니다.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C → Nurture DB · 초기 ICP 스코어 + 6축 raw data 함께 보존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502920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이벤트: 50점 · K-beauty YES · 3명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29000" y="274320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1-3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시그널 감시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3703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기반 월 1회 재조회 · LinkedIn staff · 입점 · 웹사이트 개편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11880" y="502920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703320" y="5029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이벤트: 직원 +3 · 스코어 50→65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09360" y="274320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9224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4-6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재평가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3703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분기별 전체 cohort 재스코어링 · 60점↑ 승급 후보 감지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502920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83680" y="5029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이벤트: 경쟁사 입점 · 스코어 65→74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189720" y="274320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37260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8E5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6+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7260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승급 · 재접촉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72600" y="3703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B 승급 + 3-touch 시퀀스 자동 시작. Nurture 수집 시그널을 메일에 활용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72600" y="502920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Text 26"/>
          <p:cNvSpPr/>
          <p:nvPr/>
        </p:nvSpPr>
        <p:spPr>
          <a:xfrm>
            <a:off x="9464040" y="5029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이벤트: 6개월 전 대비 경쟁사 입점 · 재검토 제안</a:t>
            </a: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5989320"/>
            <a:ext cx="91440" cy="502920"/>
          </a:xfrm>
          <a:prstGeom prst="rect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77240" y="5989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= 자산: 6개월 뒤에는 SDR 업무의 50% 이상이 이미 한 번 접촉한 정제된 리드 대상의 재접촉으로 바뀝니다.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0252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× AI · HANDOFF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사람이 개입하는가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반복 작업 전담, 사람은 전략·관계·판단 전담. 사람이 영향력 큰 판단에 집중하도록 설계.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834640" cy="274320"/>
          </a:xfrm>
          <a:prstGeom prst="roundRect">
            <a:avLst>
              <a:gd name="adj" fmla="val 10000"/>
            </a:avLst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ONLY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566160" y="2468880"/>
            <a:ext cx="2834640" cy="274320"/>
          </a:xfrm>
          <a:prstGeom prst="roundRect">
            <a:avLst>
              <a:gd name="adj" fmla="val 10000"/>
            </a:avLst>
          </a:prstGeom>
          <a:solidFill>
            <a:srgbClr val="FFF7EA"/>
          </a:solidFill>
          <a:ln w="12700">
            <a:solidFill>
              <a:srgbClr val="FFF7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465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DRAFT · HUMAN APPROVE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0" y="2468880"/>
            <a:ext cx="2834640" cy="27432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ONLY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11064240" cy="301752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288036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0" y="2880360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내용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182112"/>
            <a:ext cx="11064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18211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Apollo 리드 검색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3227832"/>
            <a:ext cx="1828800" cy="210312"/>
          </a:xfrm>
          <a:prstGeom prst="roundRect">
            <a:avLst>
              <a:gd name="adj" fmla="val 13043"/>
            </a:avLst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46320" y="3227832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ONLY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32320" y="3182112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ICP 쿼리 기반 자동 검색 · 일 수백-수천 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11064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48386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ICP 120점 채점 · 시그널 탐지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3529584"/>
            <a:ext cx="1828800" cy="210312"/>
          </a:xfrm>
          <a:prstGeom prst="roundRect">
            <a:avLst>
              <a:gd name="adj" fmla="val 13043"/>
            </a:avLst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46320" y="3529584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ONLY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32320" y="3483864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6축 자동 채점 + 4가지 시그널 감지 · 10초/리드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785616"/>
            <a:ext cx="11064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3785616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조사 + Pain 추출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831336"/>
            <a:ext cx="1828800" cy="210312"/>
          </a:xfrm>
          <a:prstGeom prst="roundRect">
            <a:avLst>
              <a:gd name="adj" fmla="val 13043"/>
            </a:avLst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846320" y="3831336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ONLY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32320" y="3785616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웹 크롤 · 회사별 pain 1문장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087368"/>
            <a:ext cx="11064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0080" y="408736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메일 작성 (3 angles)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4133088"/>
            <a:ext cx="1828800" cy="210312"/>
          </a:xfrm>
          <a:prstGeom prst="roundRect">
            <a:avLst>
              <a:gd name="adj" fmla="val 13043"/>
            </a:avLst>
          </a:prstGeom>
          <a:solidFill>
            <a:srgbClr val="FFF7EA"/>
          </a:solidFill>
          <a:ln w="12700">
            <a:solidFill>
              <a:srgbClr val="FFF7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46320" y="4133088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65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+ HUMAN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32320" y="4087368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초안 6분 + Shin 검수 3분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389120"/>
            <a:ext cx="11064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40080" y="438912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답장 분류 · CRM sync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4434840"/>
            <a:ext cx="1828800" cy="210312"/>
          </a:xfrm>
          <a:prstGeom prst="roundRect">
            <a:avLst>
              <a:gd name="adj" fmla="val 13043"/>
            </a:avLst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846320" y="4434840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ONLY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132320" y="4389120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기반 자동 태깅 · HubSpot stage 업데이트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690872"/>
            <a:ext cx="11064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40080" y="469087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Positive 답장 24h 회신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4736592"/>
            <a:ext cx="1828800" cy="210312"/>
          </a:xfrm>
          <a:prstGeom prst="roundRect">
            <a:avLst>
              <a:gd name="adj" fmla="val 1304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846320" y="4736592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4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132320" y="4690872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수동 · 관계 구축 핵심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4992624"/>
            <a:ext cx="11064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40080" y="499262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MEDDIC 자격 검증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46320" y="5038344"/>
            <a:ext cx="1828800" cy="210312"/>
          </a:xfrm>
          <a:prstGeom prst="roundRect">
            <a:avLst>
              <a:gd name="adj" fmla="val 1304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846320" y="5038344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4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132320" y="4992624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통화·미팅 실시간 판단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5294376"/>
            <a:ext cx="11064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40080" y="5294376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 준비 자료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5340096"/>
            <a:ext cx="1828800" cy="210312"/>
          </a:xfrm>
          <a:prstGeom prst="roundRect">
            <a:avLst>
              <a:gd name="adj" fmla="val 13043"/>
            </a:avLst>
          </a:prstGeom>
          <a:solidFill>
            <a:srgbClr val="FFF7EA"/>
          </a:solidFill>
          <a:ln w="12700">
            <a:solidFill>
              <a:srgbClr val="FFF7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846320" y="5340096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65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+ HUMAN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132320" y="5294376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요약 → Shin 10분 검토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5596128"/>
            <a:ext cx="11064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640080" y="559612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 · 협상 · 계약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46320" y="5641848"/>
            <a:ext cx="1828800" cy="210312"/>
          </a:xfrm>
          <a:prstGeom prst="roundRect">
            <a:avLst>
              <a:gd name="adj" fmla="val 1304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4846320" y="5641848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4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132320" y="5596128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관계·반론·서명 전담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8640" y="5897880"/>
            <a:ext cx="11064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640080" y="589788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성과 리포트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46320" y="5943600"/>
            <a:ext cx="1828800" cy="210312"/>
          </a:xfrm>
          <a:prstGeom prst="roundRect">
            <a:avLst>
              <a:gd name="adj" fmla="val 13043"/>
            </a:avLst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4846320" y="5943600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ONLY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132320" y="5897880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G1 에이전트 자동 리포트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6167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툴 · 18개 에이전트 · 하나의 엔진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표준 SaaS 도구를 재발명 없이 조합. Claude Code 기반 18개 AI 에이전트가 오케스트레이터 역할.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리드 발굴·검증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2743200"/>
            <a:ext cx="832104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Apollo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926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275M B2B 컨택트 DB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43400" y="2926080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80560" y="2926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NeverBounce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2926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유효성 검증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AI · 두뇌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3611880"/>
            <a:ext cx="832104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7947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Haiku 기본·Sonnet 보강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43400" y="3794760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480560" y="3794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37947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 보조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38160" y="3794760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75320" y="3794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HubSpot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0" y="37947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CRM 양방향 sync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발송 · 미팅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4480560"/>
            <a:ext cx="832104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85800" y="4663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Instantly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4663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warmed domains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43400" y="4663440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480560" y="4663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Workspace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4663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연동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38160" y="4663440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275320" y="4663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875520" y="4663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 자동 예약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인프라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91840" y="5349240"/>
            <a:ext cx="832104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548640" y="5532120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85800" y="5532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Cloud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286000" y="55321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Functions + 5 Scheduler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17151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 RESULTS ·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 실측 · 2026-04-20 ~ 04-26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iCELmedi (글로벌 미용기기 · K-beauty 유통) context로 실전 가동한 Week 1 결과.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287통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영업일 누적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26060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0" y="2743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12건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Positive Reply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4.2% · 업계 1-3%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26060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3796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25-35%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89720" y="26060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418320" y="2743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$30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41832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Cost Per Meeting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8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$500-2,000 · 16-66배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91440" cy="1371600"/>
          </a:xfrm>
          <a:prstGeom prst="rect">
            <a:avLst/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10972800" cy="137160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14400" y="4937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POSITIVE REPLY · 실제 답장 원문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5212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"Hi Shin — the margin structure you mentioned is exactly what we were missing from our current Korean supplier. Could we schedule a call next week to discuss your PDRN line?"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59436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Week 1 Day 3 · Competitive angle · A5 classifier: positive → HubSpot: interested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13337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COST TRANSPARENCY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얼마 드는가 · 숨기는 것 없이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매월 실제 구독·사용량 기반 비용. 고정 구독 + 사용량 기반 두 범주로 분리.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월 고정 구독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303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Apollo Basic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2926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$99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303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HubSpot Starter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3246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03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Instantly (4 도메인)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3566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$97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303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886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Workspace (4)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38862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5303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Calendly Professional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4206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5303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GCP base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45262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303520" cy="292608"/>
          </a:xfrm>
          <a:prstGeom prst="rect">
            <a:avLst/>
          </a:prstGeom>
          <a:solidFill>
            <a:srgbClr val="EEF5F1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31520" y="4846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합계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0" y="4846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$338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사용량 기반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2926080"/>
            <a:ext cx="5303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92240" y="2926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API · Haiku 주력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149840" y="2926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246120"/>
            <a:ext cx="5303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92240" y="32461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API · 멀티모달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149840" y="3246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3566160"/>
            <a:ext cx="5303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492240" y="3566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NeverBounce verify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149840" y="3566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3886200"/>
            <a:ext cx="5303520" cy="292608"/>
          </a:xfrm>
          <a:prstGeom prst="rect">
            <a:avLst/>
          </a:prstGeom>
          <a:solidFill>
            <a:srgbClr val="EEF5F1"/>
          </a:solidFill>
          <a:ln w="381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492240" y="3886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사용량 합계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149840" y="38862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4297680"/>
            <a:ext cx="5303520" cy="685800"/>
          </a:xfrm>
          <a:prstGeom prst="roundRect">
            <a:avLst>
              <a:gd name="adj" fmla="val 6667"/>
            </a:avLst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492240" y="42976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믹스: Haiku 90% + 복잡 건만 Sonnet 에스컬레이션. 리드당 평균 $0.04 API 비용.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30352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82296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TOTAL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" y="5760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$338 (고정) + $57 (사용량) = 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114800" y="5733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$395 / 월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6217920" y="5303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49224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CPM · TOOLS ONLY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92240" y="5623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$30</a:t>
            </a:r>
            <a:endParaRPr lang="en-US" sz="4400" dirty="0"/>
          </a:p>
        </p:txBody>
      </p:sp>
      <p:sp>
        <p:nvSpPr>
          <p:cNvPr id="49" name="Text 47"/>
          <p:cNvSpPr/>
          <p:nvPr/>
        </p:nvSpPr>
        <p:spPr>
          <a:xfrm>
            <a:off x="8686800" y="57150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D8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$500-2,000 대비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D8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16-66배 효율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20947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SHIN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만든 현장 오퍼레이터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600" b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책으로 세일즈를 배운 사람이 아닙니다. </a:t>
            </a:r>
            <a:endParaRPr lang="en-US" altLang="ko-KR" sz="1600" b="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b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오너에게 직접 원두를 팔아보고, 와인바를 운영하며 소비자 행동을 관찰했습니다.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b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글로벌 미용기기 B2B 영업 팀장으로 일하며 현장의 pain point를 직접 경험한 오퍼레이터입니다.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2021 – 2022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로스터리 · B2B 원두 납품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2976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거래처 평균 15곳 · 월매출 2,300-3,400만원 · 최장 retention 1년 6개월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5486400"/>
            <a:ext cx="32004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5577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ko-KR" altLang="en-US" sz="9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
</a:t>
            </a:r>
            <a:r>
              <a: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cold visit → 샘플 → 반복 구매의 풀 사이클을 직접 운영해본 경험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43400" y="329184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 – 2024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와인바 · 단독 D2C 운영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42976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월매출 1,000-1,500만원 · 40-50 와인 SKU · 재방문율 10-20%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5486400"/>
            <a:ext cx="32004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0" y="5577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
</a:t>
            </a: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재방문율 낮은 시장에서 공간 비즈니스로 포지션 바꾸는 의사결정 경험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38160" y="329184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6676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2025.10 – 현재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6676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iCELmedi · Head of Global Sales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42976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10개국 50명 validated buyer · B2B GTM 시스템 2주 솔로 빌드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66760" y="5486400"/>
            <a:ext cx="32004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366760" y="5577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ko-KR" altLang="en-US" sz="900" b="1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
</a:t>
            </a:r>
            <a:r>
              <a: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수동으로 리드를 찾고 메일을 쓰는 건 지속 가능하지 않다는 현장의 pain point에서 출발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753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IMWEB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imweb 미드마켓 D2C로 이식 · 1-2주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재빌드 없이 4가지만 교체하면 imweb 초중기 D2C 세그먼트에 이식 가능. Wing 02 Commit과 Wing 03 Expansion은 그대로.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ICP 필터 교체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aesthetic 5-20명 → 초중기 D2C 3-15명 · 스마트스토어 이탈 시그널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27432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1188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32004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Angle 훅 교체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36576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margin/regulatory/competitive → 스마트스토어 종속·유지보수·템플릿 한계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27432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32004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 콘텐츠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6576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iCELmedi 제품 → imweb 빌더 feature + 스마트스토어 3분 마이그레이션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89720" y="27432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37260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8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72600" y="32004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Research DB 소스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72600" y="36576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aesthetic 뉴스 → D2C 매거진 · 스마트스토어 상위 셀러 · Channel Talk/GA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11064240" cy="1645920"/>
          </a:xfrm>
          <a:prstGeom prst="roundRect">
            <a:avLst>
              <a:gd name="adj" fmla="val 6667"/>
            </a:avLst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8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OUTCOME · 1개월 이식 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1,000-2,640통 발송 · 미팅 10-13건 · CPM $150 미만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22960" y="5943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4년간 직접 운영했던 개인 카페·로스터리·와인바가 정확히 imweb 타겟 ICP였기 때문에, 초중기 D2C 브랜드 pain이 감각으로 남아 있습니다.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97516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5F8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-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나누고 싶으시면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imweb OB Lead Specialist로서의 fit을 더 구체적으로 논의하고 싶으시면</a:t>
            </a:r>
            <a:endParaRPr lang="en-US" sz="15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채널 중 편한 방법으로 연락 주세요.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0" y="457200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0" y="4681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49206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5349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t68632899@gmail.com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457200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5F8575"/>
          </a:solidFill>
          <a:ln w="12700">
            <a:solidFill>
              <a:srgbClr val="5F85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17920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8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LinkedIn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5349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linkedin.com/in/mk-shin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6172200"/>
            <a:ext cx="3931920" cy="320040"/>
          </a:xfrm>
          <a:prstGeom prst="roundRect">
            <a:avLst>
              <a:gd name="adj" fmla="val 48571"/>
            </a:avLst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114800" y="6172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Shin이 직접 제작 · imweb 빌더 + HTML 위젯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 · Portfolio ·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83079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437F23-1D07-A74A-8654-928CE97F41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e5ed3f2-2fbd-4268-b61f-9aac37aaf23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2232</Words>
  <Application>Microsoft Macintosh PowerPoint</Application>
  <PresentationFormat>와이드스크린</PresentationFormat>
  <Paragraphs>426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Shin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Shin · Portfolio</dc:title>
  <dc:subject>PptxGenJS Presentation</dc:subject>
  <dc:creator>Shin</dc:creator>
  <cp:lastModifiedBy>명교 신</cp:lastModifiedBy>
  <cp:revision>7</cp:revision>
  <dcterms:created xsi:type="dcterms:W3CDTF">2026-04-20T12:35:35Z</dcterms:created>
  <dcterms:modified xsi:type="dcterms:W3CDTF">2026-04-20T14:08:39Z</dcterms:modified>
</cp:coreProperties>
</file>